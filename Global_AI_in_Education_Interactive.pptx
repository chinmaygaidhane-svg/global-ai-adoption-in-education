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864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3864"/>
                </a:solidFill>
                <a:latin typeface="Calibri"/>
              </a:rPr>
              <a:t>Overall AI adoption by year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AI adoption %</c:v>
                </c:pt>
              </c:strCache>
            </c:strRef>
          </c:tx>
          <c:spPr>
            <a:solidFill>
              <a:srgbClr val="2F5496"/>
            </a:solidFill>
            <a:ln w="38100" cap="flat">
              <a:solidFill>
                <a:srgbClr val="2F54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5496"/>
              </a:solidFill>
              <a:ln w="9525" cap="flat">
                <a:solidFill>
                  <a:srgbClr val="2F54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  <c:pt idx="11">
                    <c:v>2026*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4.13</c:v>
                </c:pt>
                <c:pt idx="1">
                  <c:v>9.42</c:v>
                </c:pt>
                <c:pt idx="2">
                  <c:v>14.29</c:v>
                </c:pt>
                <c:pt idx="3">
                  <c:v>19.04</c:v>
                </c:pt>
                <c:pt idx="4">
                  <c:v>24.28</c:v>
                </c:pt>
                <c:pt idx="5">
                  <c:v>29.27</c:v>
                </c:pt>
                <c:pt idx="6">
                  <c:v>34.36</c:v>
                </c:pt>
                <c:pt idx="7">
                  <c:v>39</c:v>
                </c:pt>
                <c:pt idx="8">
                  <c:v>44.16</c:v>
                </c:pt>
                <c:pt idx="9">
                  <c:v>49.22</c:v>
                </c:pt>
                <c:pt idx="10">
                  <c:v>54.07</c:v>
                </c:pt>
                <c:pt idx="11">
                  <c:v>59.67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Go10" Type="http://schemas.openxmlformats.org/officeDocument/2006/relationships/slide" Target="slide10.xml"/><Relationship Id="rIdGo2" Type="http://schemas.openxmlformats.org/officeDocument/2006/relationships/slide" Target="slide2.xml"/><Relationship Id="rIdGo3" Type="http://schemas.openxmlformats.org/officeDocument/2006/relationships/slide" Target="slide3.xml"/><Relationship Id="rIdGo4" Type="http://schemas.openxmlformats.org/officeDocument/2006/relationships/slide" Target="slide4.xml"/><Relationship Id="rIdGo5" Type="http://schemas.openxmlformats.org/officeDocument/2006/relationships/slide" Target="slide5.xml"/><Relationship Id="rIdGo6" Type="http://schemas.openxmlformats.org/officeDocument/2006/relationships/slide" Target="slide6.xml"/><Relationship Id="rIdGo7" Type="http://schemas.openxmlformats.org/officeDocument/2006/relationships/slide" Target="slide7.xml"/><Relationship Id="rIdGo8" Type="http://schemas.openxmlformats.org/officeDocument/2006/relationships/slide" Target="slide8.xml"/><Relationship Id="rIdGo9" Type="http://schemas.openxmlformats.org/officeDocument/2006/relationships/slide" Target="slide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Go1" Type="http://schemas.openxmlformats.org/officeDocument/2006/relationships/slide" Target="slide1.xml"/><Relationship Id="rIdGo3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Go1" Type="http://schemas.openxmlformats.org/officeDocument/2006/relationships/slide" Target="slide1.xml"/><Relationship Id="rIdGo2" Type="http://schemas.openxmlformats.org/officeDocument/2006/relationships/slide" Target="slide2.xml"/><Relationship Id="rIdGo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Go1" Type="http://schemas.openxmlformats.org/officeDocument/2006/relationships/slide" Target="slide1.xml"/><Relationship Id="rIdGo3" Type="http://schemas.openxmlformats.org/officeDocument/2006/relationships/slide" Target="slide3.xml"/><Relationship Id="rIdGo5" Type="http://schemas.openxmlformats.org/officeDocument/2006/relationships/slide" Target="slide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Go1" Type="http://schemas.openxmlformats.org/officeDocument/2006/relationships/slide" Target="slide1.xml"/><Relationship Id="rIdGo4" Type="http://schemas.openxmlformats.org/officeDocument/2006/relationships/slide" Target="slide4.xml"/><Relationship Id="rIdGo6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Go1" Type="http://schemas.openxmlformats.org/officeDocument/2006/relationships/slide" Target="slide1.xml"/><Relationship Id="rIdGo5" Type="http://schemas.openxmlformats.org/officeDocument/2006/relationships/slide" Target="slide5.xml"/><Relationship Id="rIdGo7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Go1" Type="http://schemas.openxmlformats.org/officeDocument/2006/relationships/slide" Target="slide1.xml"/><Relationship Id="rIdGo6" Type="http://schemas.openxmlformats.org/officeDocument/2006/relationships/slide" Target="slide6.xml"/><Relationship Id="rIdGo8" Type="http://schemas.openxmlformats.org/officeDocument/2006/relationships/slide" Target="slide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Go1" Type="http://schemas.openxmlformats.org/officeDocument/2006/relationships/slide" Target="slide1.xml"/><Relationship Id="rIdGo7" Type="http://schemas.openxmlformats.org/officeDocument/2006/relationships/slide" Target="slide7.xml"/><Relationship Id="rIdGo9" Type="http://schemas.openxmlformats.org/officeDocument/2006/relationships/slide" Target="slide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Go1" Type="http://schemas.openxmlformats.org/officeDocument/2006/relationships/slide" Target="slide1.xml"/><Relationship Id="rIdGo10" Type="http://schemas.openxmlformats.org/officeDocument/2006/relationships/slide" Target="slide10.xml"/><Relationship Id="rIdGo8" Type="http://schemas.openxmlformats.org/officeDocument/2006/relationships/slide" Target="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Go1" Type="http://schemas.openxmlformats.org/officeDocument/2006/relationships/slide" Target="slide1.xml"/><Relationship Id="rIdGo9" Type="http://schemas.openxmlformats.org/officeDocument/2006/relationships/slide" Target="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in Education Analytics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097280" cy="54864"/>
          </a:xfrm>
          <a:prstGeom prst="rect">
            <a:avLst/>
          </a:prstGeom>
          <a:solidFill>
            <a:srgbClr val="8FAADC"/>
          </a:solidFill>
          <a:ln w="12700">
            <a:solidFill>
              <a:srgbClr val="8FAA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Tableau project presentation. Click a topic to jump to it.</a:t>
            </a:r>
            <a:endParaRPr lang="en-US" sz="1600" dirty="0"/>
          </a:p>
        </p:txBody>
      </p:sp>
      <p:sp>
        <p:nvSpPr>
          <p:cNvPr id="5" name="go-2">
            <a:hlinkClick r:id="rIdGo2" action="ppaction://hlinksldjump"/>
          </p:cNvPr>
          <p:cNvSpPr/>
          <p:nvPr/>
        </p:nvSpPr>
        <p:spPr>
          <a:xfrm>
            <a:off x="548640" y="214884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2F5496"/>
          </a:solidFill>
          <a:ln w="12700">
            <a:solidFill>
              <a:srgbClr val="8FAAD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6" name="go-3">
            <a:hlinkClick r:id="rIdGo3" action="ppaction://hlinksldjump"/>
          </p:cNvPr>
          <p:cNvSpPr/>
          <p:nvPr/>
        </p:nvSpPr>
        <p:spPr>
          <a:xfrm>
            <a:off x="3291840" y="214884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2F5496"/>
          </a:solidFill>
          <a:ln w="12700">
            <a:solidFill>
              <a:srgbClr val="8FAAD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1500" dirty="0"/>
          </a:p>
        </p:txBody>
      </p:sp>
      <p:sp>
        <p:nvSpPr>
          <p:cNvPr id="7" name="go-4">
            <a:hlinkClick r:id="rIdGo4" action="ppaction://hlinksldjump"/>
          </p:cNvPr>
          <p:cNvSpPr/>
          <p:nvPr/>
        </p:nvSpPr>
        <p:spPr>
          <a:xfrm>
            <a:off x="6035040" y="214884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2F5496"/>
          </a:solidFill>
          <a:ln w="12700">
            <a:solidFill>
              <a:srgbClr val="8FAAD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8" name="go-5">
            <a:hlinkClick r:id="rIdGo5" action="ppaction://hlinksldjump"/>
          </p:cNvPr>
          <p:cNvSpPr/>
          <p:nvPr/>
        </p:nvSpPr>
        <p:spPr>
          <a:xfrm>
            <a:off x="548640" y="301752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2F5496"/>
          </a:solidFill>
          <a:ln w="12700">
            <a:solidFill>
              <a:srgbClr val="8FAAD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500" dirty="0"/>
          </a:p>
        </p:txBody>
      </p:sp>
      <p:sp>
        <p:nvSpPr>
          <p:cNvPr id="9" name="go-6">
            <a:hlinkClick r:id="rIdGo6" action="ppaction://hlinksldjump"/>
          </p:cNvPr>
          <p:cNvSpPr/>
          <p:nvPr/>
        </p:nvSpPr>
        <p:spPr>
          <a:xfrm>
            <a:off x="3291840" y="301752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2F5496"/>
          </a:solidFill>
          <a:ln w="12700">
            <a:solidFill>
              <a:srgbClr val="8FAAD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1500" dirty="0"/>
          </a:p>
        </p:txBody>
      </p:sp>
      <p:sp>
        <p:nvSpPr>
          <p:cNvPr id="10" name="go-7">
            <a:hlinkClick r:id="rIdGo7" action="ppaction://hlinksldjump"/>
          </p:cNvPr>
          <p:cNvSpPr/>
          <p:nvPr/>
        </p:nvSpPr>
        <p:spPr>
          <a:xfrm>
            <a:off x="6035040" y="301752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2F5496"/>
          </a:solidFill>
          <a:ln w="12700">
            <a:solidFill>
              <a:srgbClr val="8FAAD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11" name="go-8">
            <a:hlinkClick r:id="rIdGo8" action="ppaction://hlinksldjump"/>
          </p:cNvPr>
          <p:cNvSpPr/>
          <p:nvPr/>
        </p:nvSpPr>
        <p:spPr>
          <a:xfrm>
            <a:off x="548640" y="388620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2F5496"/>
          </a:solidFill>
          <a:ln w="12700">
            <a:solidFill>
              <a:srgbClr val="8FAAD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12" name="go-9">
            <a:hlinkClick r:id="rIdGo9" action="ppaction://hlinksldjump"/>
          </p:cNvPr>
          <p:cNvSpPr/>
          <p:nvPr/>
        </p:nvSpPr>
        <p:spPr>
          <a:xfrm>
            <a:off x="3291840" y="388620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2F5496"/>
          </a:solidFill>
          <a:ln w="12700">
            <a:solidFill>
              <a:srgbClr val="8FAAD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3" name="go-10">
            <a:hlinkClick r:id="rIdGo10" action="ppaction://hlinksldjump"/>
          </p:cNvPr>
          <p:cNvSpPr/>
          <p:nvPr/>
        </p:nvSpPr>
        <p:spPr>
          <a:xfrm>
            <a:off x="6035040" y="388620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2F5496"/>
          </a:solidFill>
          <a:ln w="12700">
            <a:solidFill>
              <a:srgbClr val="8FAAD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A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go-1">
            <a:hlinkClick r:id="rIdGo1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1">
            <a:hlinkClick r:id="rIdGo1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go-3">
            <a:hlinkClick r:id="rIdGo3" action="ppaction://hlinksldjump"/>
          </p:cNvPr>
          <p:cNvSpPr/>
          <p:nvPr/>
        </p:nvSpPr>
        <p:spPr>
          <a:xfrm>
            <a:off x="822960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9728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increasingly used in education to support students, teachers and institutions: personalized learning, content generation, assessment support.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may differ by country, region, infrastructure, policy and demographics.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student, teacher and school AI adoption, daily usage, AI tools, internet penetration, education index, policy, curriculum, urban-rural and gender gaps.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turns the dataset into interactive visualizations and dashboards.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10 countries in the dataset; not a complete picture of every country worldwide.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2800" dirty="0"/>
          </a:p>
        </p:txBody>
      </p:sp>
      <p:sp>
        <p:nvSpPr>
          <p:cNvPr id="4" name="go-1">
            <a:hlinkClick r:id="rIdGo1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2">
            <a:hlinkClick r:id="rIdGo2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go-4">
            <a:hlinkClick r:id="rIdGo4" action="ppaction://hlinksldjump"/>
          </p:cNvPr>
          <p:cNvSpPr/>
          <p:nvPr/>
        </p:nvSpPr>
        <p:spPr>
          <a:xfrm>
            <a:off x="822960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566160" cy="33832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64008" cy="338328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systematic analysis, it is hard to see where AI adoption is higher or lower, how students and teachers differ, where urban-rural gaps exist, and what role tools and curriculum play.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analyze adoption patterns and their links to infrastructure, policy, curriculum and equity using Tableau.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1097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1508760"/>
            <a:ext cx="4389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student, teacher and school adoption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countries and regions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most frequent AI tools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trends from 2015 onward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links to internet penetration and education index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policy and curriculum integration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urban-rural and gender gaps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data-driven decisions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800" dirty="0"/>
          </a:p>
        </p:txBody>
      </p:sp>
      <p:sp>
        <p:nvSpPr>
          <p:cNvPr id="4" name="go-1">
            <a:hlinkClick r:id="rIdGo1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3">
            <a:hlinkClick r:id="rIdGo3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go-5">
            <a:hlinkClick r:id="rIdGo5" action="ppaction://hlinksldjump"/>
          </p:cNvPr>
          <p:cNvSpPr/>
          <p:nvPr/>
        </p:nvSpPr>
        <p:spPr>
          <a:xfrm>
            <a:off x="822960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508760" cy="10972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" y="11887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1,360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737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03120" y="1097280"/>
            <a:ext cx="1508760" cy="10972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103120" y="11887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1737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49040" y="1097280"/>
            <a:ext cx="1508760" cy="10972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749040" y="11887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1737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94960" y="1097280"/>
            <a:ext cx="1508760" cy="10972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394960" y="11887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1737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40880" y="1097280"/>
            <a:ext cx="1508760" cy="10972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040880" y="11887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2015–2026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17373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in Education.csv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8803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Usage: student, teacher, school AI adoption; average daily AI minutes; top AI tool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internet penetration, education index, government AI policy, AI in curriculum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Equity: urban usage, rural usage, gender gap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Identifiers: year, month, country, region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2800" dirty="0"/>
          </a:p>
        </p:txBody>
      </p:sp>
      <p:sp>
        <p:nvSpPr>
          <p:cNvPr id="4" name="go-1">
            <a:hlinkClick r:id="rIdGo1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4">
            <a:hlinkClick r:id="rIdGo4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go-6">
            <a:hlinkClick r:id="rIdGo6" action="ppaction://hlinksldjump"/>
          </p:cNvPr>
          <p:cNvSpPr/>
          <p:nvPr/>
        </p:nvSpPr>
        <p:spPr>
          <a:xfrm>
            <a:off x="822960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33832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64008" cy="338328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Inspected records, types, ranges and categories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441 missing policy values (32.4%) labeled "Not Available", not "No Policy"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Validated numeric types and percentage ranges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Kept same year-month-country rows: they hold different valid measurements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Standardized text (e.g. India / india)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97280"/>
            <a:ext cx="64008" cy="338328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fields in Tableau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55448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Date = MAKEDATE(Year, Month, 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Government Policy Status (Active / Draft / Not Available)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Overall AI Adoption % = average of student, teacher and school adoption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Urban-Rural gap, Student-Teacher gap, Student-School gap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Adoption is a project-specific measure, not an official index.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2800" dirty="0"/>
          </a:p>
        </p:txBody>
      </p:sp>
      <p:sp>
        <p:nvSpPr>
          <p:cNvPr id="4" name="go-1">
            <a:hlinkClick r:id="rIdGo1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5">
            <a:hlinkClick r:id="rIdGo5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go-7">
            <a:hlinkClick r:id="rIdGo7" action="ppaction://hlinksldjump"/>
          </p:cNvPr>
          <p:cNvSpPr/>
          <p:nvPr/>
        </p:nvSpPr>
        <p:spPr>
          <a:xfrm>
            <a:off x="822960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cleaned dataset  →  20 worksheets  →  5 dashboards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4023360" cy="8686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54480"/>
            <a:ext cx="64008" cy="86868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Global Overview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adoption trend, monthly trend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4023360" cy="8686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60320"/>
            <a:ext cx="64008" cy="86868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651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Regional &amp; Country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country, student vs teacher, urban vs rural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4023360" cy="8686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566160"/>
            <a:ext cx="64008" cy="86868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657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AI Tools &amp; Market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023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frequency, tools by region, daily usage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63440" y="1554480"/>
            <a:ext cx="4023360" cy="8686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554480"/>
            <a:ext cx="64008" cy="86868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Policy, Infrastructure &amp; Education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curriculum, internet and education correlations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63440" y="2560320"/>
            <a:ext cx="4023360" cy="8686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560320"/>
            <a:ext cx="64008" cy="86868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46320" y="2651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Equity &amp; Accessibility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gap, urban-rural gap, daily usage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4" name="go-1">
            <a:hlinkClick r:id="rIdGo1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6">
            <a:hlinkClick r:id="rIdGo6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go-8">
            <a:hlinkClick r:id="rIdGo8" action="ppaction://hlinksldjump"/>
          </p:cNvPr>
          <p:cNvSpPr/>
          <p:nvPr/>
        </p:nvSpPr>
        <p:spPr>
          <a:xfrm>
            <a:off x="822960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005840"/>
          <a:ext cx="42976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*2026 is a partial year (40 records)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00584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rises from 4.1% (2015) to 59.7% (2026)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31.0% · Teacher 29.9% · School 29.4%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33.6% vs rural 21.6%: a 12-point gap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and country differences are small (under 0.5 pt)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is the most frequent top tool (363 records)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and education index: correlation near 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curriculum: slightly higher adoption (30.4% vs 29.8%)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use averages 32.8 min; gender gap about 5.4 pts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go-1">
            <a:hlinkClick r:id="rIdGo1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7">
            <a:hlinkClick r:id="rIdGo7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go-9">
            <a:hlinkClick r:id="rIdGo9" action="ppaction://hlinksldjump"/>
          </p:cNvPr>
          <p:cNvSpPr/>
          <p:nvPr/>
        </p:nvSpPr>
        <p:spPr>
          <a:xfrm>
            <a:off x="822960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51760" cy="16002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64008" cy="16002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accessibility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access to AI resources and infrastructure where the urban-rural gap is largest.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651760" cy="16002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097280"/>
            <a:ext cx="64008" cy="16002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adoption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5544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training and professional development as students are slightly ahead of teachers.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651760" cy="16002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097280"/>
            <a:ext cx="64008" cy="16002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integration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5544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AI literacy, responsible use, output evaluation and academic integrity.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2651760" cy="16002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34640"/>
            <a:ext cx="64008" cy="16002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AI policies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2918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clear, up-to-date AI-use policies; many records lack policy data.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46120" y="2834640"/>
            <a:ext cx="2651760" cy="16002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2834640"/>
            <a:ext cx="64008" cy="16002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2900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gaps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429000" y="32918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gender and urban-rural gaps, not only overall adoption.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035040" y="2834640"/>
            <a:ext cx="2651760" cy="160020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2834640"/>
            <a:ext cx="64008" cy="16002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AI tools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32918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tools on value, privacy, security, cost and accessibility, not popularity alone.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800" dirty="0"/>
          </a:p>
        </p:txBody>
      </p:sp>
      <p:sp>
        <p:nvSpPr>
          <p:cNvPr id="4" name="go-1">
            <a:hlinkClick r:id="rIdGo1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8">
            <a:hlinkClick r:id="rIdGo8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go-10">
            <a:hlinkClick r:id="rIdGo10" action="ppaction://hlinksldjump"/>
          </p:cNvPr>
          <p:cNvSpPr/>
          <p:nvPr/>
        </p:nvSpPr>
        <p:spPr>
          <a:xfrm>
            <a:off x="822960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64008" cy="338328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scope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55448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Only 10 countries; not every country in the world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441 records (32.4%) lack policy data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2026 has 40 records vs 120 per earlier year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Observational data: no causation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solidFill>
            <a:srgbClr val="EEF2F9"/>
          </a:solidFill>
          <a:ln w="12700">
            <a:solidFill>
              <a:srgbClr val="EEF2F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97280"/>
            <a:ext cx="64008" cy="338328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55448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Overall Adoption is a custom composite, not an official index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Tool counts are Top AI Tool frequency, not market share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Gender-gap direction is undocumented, so no conclusion on which gender uses AI more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go-1">
            <a:hlinkClick r:id="rIdGo1" action="ppaction://hlinksldjump"/>
          </p:cNvPr>
          <p:cNvSpPr/>
          <p:nvPr/>
        </p:nvSpPr>
        <p:spPr>
          <a:xfrm>
            <a:off x="6903720" y="470916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5" name="go-9">
            <a:hlinkClick r:id="rIdGo9" action="ppaction://hlinksldjump"/>
          </p:cNvPr>
          <p:cNvSpPr/>
          <p:nvPr/>
        </p:nvSpPr>
        <p:spPr>
          <a:xfrm>
            <a:off x="7818120" y="470916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F549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in education rose strongly from 2015 to the latest observations.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lead slightly; a large urban-rural gap calls for equitable access.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and country differences are small next to the change over time.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penetration and education index show almost no correlation with adoption here.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inclusion is linked to slightly higher adoption; policy data is incomplete.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integration needs access, teacher readiness, curriculum and equity, not just adoption.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within the dataset's limits: 10 countries, missing policy data, observational, partial 2026.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2026-10-04T04:45:39Z</dcterms:created>
  <dcterms:modified xsi:type="dcterms:W3CDTF">2026-10-04T04:45:39Z</dcterms:modified>
</cp:coreProperties>
</file>